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-448310"/>
            <a:ext cx="76200" cy="730631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295" y="23495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6650419"/>
            <a:ext cx="2377440" cy="213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1</a:t>
            </a: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0"/>
            <a:ext cx="101339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顶部：窗口元数据 + 四张 KPI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6395" y="932815"/>
            <a:ext cx="11624310" cy="208153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36210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窗口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3621023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区块闭区间、</a:t>
            </a:r>
            <a:r>
              <a:rPr lang="zh-CN"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查询时间</a:t>
            </a:r>
            <a:r>
              <a:rPr lang="en-US" altLang="zh-CN"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、</a:t>
            </a: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余额来源、</a:t>
            </a:r>
            <a:r>
              <a:rPr lang="en-US"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token</a:t>
            </a:r>
            <a:r>
              <a:rPr lang="zh-CN" altLang="en-US"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基本信息</a:t>
            </a: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。</a:t>
            </a:r>
            <a:endParaRPr lang="en-US" sz="11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3132455"/>
            <a:ext cx="11613515" cy="293433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615" y="3205480"/>
            <a:ext cx="3621023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四</a:t>
            </a:r>
            <a:r>
              <a:rPr lang="zh-CN"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个基本查询</a:t>
            </a:r>
            <a:r>
              <a:rPr lang="zh-CN"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数据</a:t>
            </a:r>
            <a:endParaRPr lang="zh-CN"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615" y="3479800"/>
            <a:ext cx="3621023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Transfer 地址、正余额样本、已验证池、启发式风险。</a:t>
            </a:r>
            <a:endParaRPr sz="11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18" name="Picture 17" descr="01-kp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243" y="4366260"/>
            <a:ext cx="11430000" cy="142058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2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" y="1718945"/>
            <a:ext cx="5915660" cy="1139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结构</a:t>
            </a:r>
            <a:r>
              <a:rPr lang="zh-CN"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图</a:t>
            </a: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：角色</a:t>
            </a:r>
            <a:r>
              <a:rPr lang="zh-CN"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占比</a:t>
            </a: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、池集中度、样本内 Top 持有人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32688"/>
            <a:ext cx="3822191" cy="11155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36210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角色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3621023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已覆盖且余额为正的行：池/托管 vs 非池。</a:t>
            </a:r>
            <a:endParaRPr sz="11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87952" y="932688"/>
            <a:ext cx="3822191" cy="11155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05840"/>
            <a:ext cx="36210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集中度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1280160"/>
            <a:ext cx="3621023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份额分母 = 已测池，不是全部 verified pools。</a:t>
            </a:r>
            <a:endParaRPr sz="11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1" y="932688"/>
            <a:ext cx="3822191" cy="11155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005840"/>
            <a:ext cx="36210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Top10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9" y="1280160"/>
            <a:ext cx="3621023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查询样本内期末余额排序，不是全量 holder 榜。</a:t>
            </a:r>
            <a:endParaRPr sz="11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032" y="2157984"/>
            <a:ext cx="11686032" cy="43708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2-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286000"/>
            <a:ext cx="11430000" cy="29228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3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价格与分池成交量，共用同一时间桶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18" name="Picture 17" descr="03-mark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878" y="974725"/>
            <a:ext cx="11430000" cy="293097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4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持有人表：身份、DEX 证据、LP 下钻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5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540" y="1108710"/>
            <a:ext cx="11040745" cy="4077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已验证池 + 目标代币储备分布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1" name="Picture 20" descr="05-poo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1193165"/>
            <a:ext cx="11299825" cy="447167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6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Largest Covered Balance Changes：余额变动，不一定是交易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5905" y="951230"/>
            <a:ext cx="2860040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24128"/>
            <a:ext cx="3575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排序键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5753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窗口内余额净变动，且排除池地址。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80410" y="951230"/>
            <a:ext cx="2799715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1400" y="1024255"/>
            <a:ext cx="247459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Swap 列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1400" y="1298575"/>
            <a:ext cx="247459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Bought / Sold / Swap Net 只是索引到的成交上下文。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44590" y="951230"/>
            <a:ext cx="2799715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860" y="1024255"/>
            <a:ext cx="263842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来源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2860" y="1371600"/>
            <a:ext cx="263842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转账、托管迁移、合约操作都会改余额。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85275" y="951230"/>
            <a:ext cx="2799715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400" y="1024255"/>
            <a:ext cx="263715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覆盖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96400" y="1298575"/>
            <a:ext cx="263715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只在余额查询已覆盖的地址中排序。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1" name="Picture 20" descr="06-mov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2387600"/>
            <a:ext cx="11692255" cy="385000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7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Notable Wallets：窗口内分位数筛出的显著交易地址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5905" y="951230"/>
            <a:ext cx="2586355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75" y="1024255"/>
            <a:ext cx="243713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Movers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175" y="1298575"/>
            <a:ext cx="243713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按期末−期初余额排序。正变动不是自动买入。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06725" y="950595"/>
            <a:ext cx="3084830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4995" y="1023620"/>
            <a:ext cx="2905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Notable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34995" y="1297940"/>
            <a:ext cx="290576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Trade / Mover / Volume / Activity 四个独立标签。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56020" y="951230"/>
            <a:ext cx="2705100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4290" y="1024255"/>
            <a:ext cx="254889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阈值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4290" y="1298575"/>
            <a:ext cx="254889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默认用当前窗口内分位数，不用全局固定金额。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25585" y="943610"/>
            <a:ext cx="2906395" cy="107886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855" y="1016635"/>
            <a:ext cx="27381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Swap 列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53855" y="1290955"/>
            <a:ext cx="273812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Bought/Sold 只是索引到的成交上下文。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1" name="Picture 20" descr="07-no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" y="2431415"/>
            <a:ext cx="11352530" cy="36169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8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5" name="Picture 24" descr="07-no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" y="2454910"/>
            <a:ext cx="11352530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储备时间线</a:t>
            </a:r>
            <a:r>
              <a:rPr lang="zh-CN"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和</a:t>
            </a: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LP Event Flow</a:t>
            </a:r>
            <a:endParaRPr lang="zh-CN"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18" name="Picture 17" descr="08-tv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841375"/>
            <a:ext cx="10196830" cy="26289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9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2" name="Picture 21" descr="09-lp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" y="3582035"/>
            <a:ext cx="10010140" cy="30746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撤资表：确认发生了 removal，不等于能量化金额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2608" y="548640"/>
            <a:ext cx="11612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负 liquidity delta 证明动作；USD / 占比还需要 token amount。</a:t>
            </a:r>
            <a:endParaRPr sz="11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50976"/>
            <a:ext cx="37947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24128"/>
            <a:ext cx="3575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已测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5753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token 数量已知，可算 USD 和参考占比。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121408"/>
            <a:ext cx="37947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194560"/>
            <a:ext cx="3575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仅 ΔL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2468880"/>
            <a:ext cx="35753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确认撤池，页面写 Token amount not returned。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6032" y="3291840"/>
            <a:ext cx="37947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364992"/>
            <a:ext cx="3575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未映射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048" y="3639312"/>
            <a:ext cx="35753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无法可靠对到目标代币一侧。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032" y="4462272"/>
            <a:ext cx="37947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535424"/>
            <a:ext cx="35753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禁止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4048" y="4809744"/>
            <a:ext cx="35753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</a:rPr>
              <a:t>缺失绝不显示成 0；测到的 0 仍是 0。</a:t>
            </a:r>
            <a:endParaRPr sz="12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87952" y="950976"/>
            <a:ext cx="7754112" cy="5577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0-withdra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078992"/>
            <a:ext cx="7498079" cy="379188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11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61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Pipeline</a:t>
            </a:r>
            <a:endParaRPr sz="10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256032"/>
            <a:ext cx="1161288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数据</a:t>
            </a:r>
            <a:r>
              <a:rPr lang="en-US"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pipeline</a:t>
            </a: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：</a:t>
            </a:r>
            <a:r>
              <a:rPr lang="en-US"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Dune</a:t>
            </a: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数据处理</a:t>
            </a:r>
            <a:r>
              <a:rPr sz="2000" b="1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 → Dashboard </a:t>
            </a:r>
            <a:endParaRPr sz="2000" b="1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56032" y="1058418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1058418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111328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1 Profile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2336" y="1369314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RPC meta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2336" y="1698498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token_profile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221991" y="1058418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21991" y="1058418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8295" y="111328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2 Discover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68295" y="1369314"/>
            <a:ext cx="164592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Dune pools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68295" y="1698498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池候选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187952" y="1058418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87952" y="1058418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6" y="111328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3 Verify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34256" y="1369314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RPC 校验配对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34256" y="1698498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verified_pools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153912" y="1058418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53912" y="1058418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216" y="111328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4 Holdings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00216" y="1369314"/>
            <a:ext cx="164592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balances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00216" y="1698498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holdings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119871" y="1058418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19871" y="1058418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6175" y="111328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5 Positions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66175" y="1369314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V3/V4 tick 份额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66175" y="1698498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portfolios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085832" y="1058418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85832" y="1058418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32136" y="111328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6 Index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32136" y="1369314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Swap / LP / Transfer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232136" y="1698498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事件表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56032" y="2091690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209169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" y="2146554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7 Labels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02336" y="240258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EOA / 角色 / DEX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02336" y="273177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address_dex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221991" y="2091690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21991" y="209169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68295" y="2146554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8 Metrics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68295" y="2402586"/>
            <a:ext cx="164592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集中度 · 流量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368295" y="273177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metrics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187952" y="2091690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87952" y="209169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34256" y="2146554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9 Timeline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334256" y="240258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按窗口自动分桶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334256" y="273177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timeline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153912" y="2091690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53912" y="209169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0216" y="2146554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10 Risk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00216" y="2402586"/>
            <a:ext cx="164592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confidence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300216" y="273177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risk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119871" y="2091690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19871" y="209169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66175" y="2146554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11 Report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266175" y="2402586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Markdown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266175" y="273177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report.md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10085832" y="2091690"/>
            <a:ext cx="1874519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762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85832" y="209169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32136" y="2146554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</a:rPr>
              <a:t>12 Dashboard</a:t>
            </a:r>
            <a:endParaRPr sz="11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32136" y="2402586"/>
            <a:ext cx="164592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1F5F9"/>
                </a:solidFill>
                <a:latin typeface="PingFang SC" panose="020B0400000000000000" charset="-122"/>
                <a:ea typeface="PingFang SC" panose="020B0400000000000000" charset="-122"/>
              </a:rPr>
              <a:t>产物</a:t>
            </a:r>
            <a:endParaRPr sz="1100" b="0">
              <a:solidFill>
                <a:srgbClr val="F1F5F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232136" y="273177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dashboard.html</a:t>
            </a:r>
            <a:endParaRPr sz="10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56032" y="3931920"/>
          <a:ext cx="1168603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268"/>
                <a:gridCol w="3286696"/>
                <a:gridCol w="3925776"/>
                <a:gridCol w="3469290"/>
              </a:tblGrid>
              <a:tr h="4267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60A5F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流</a:t>
                      </a:r>
                      <a:endParaRPr sz="1000" b="1">
                        <a:solidFill>
                          <a:srgbClr val="60A5F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72A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60A5F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从哪拿</a:t>
                      </a:r>
                      <a:endParaRPr sz="1000" b="1">
                        <a:solidFill>
                          <a:srgbClr val="60A5F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72A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60A5F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变成什么</a:t>
                      </a:r>
                      <a:endParaRPr sz="1000" b="1">
                        <a:solidFill>
                          <a:srgbClr val="60A5F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72A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1">
                          <a:solidFill>
                            <a:srgbClr val="60A5FA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呈现</a:t>
                      </a:r>
                      <a:endParaRPr lang="zh-CN" sz="1000" b="1">
                        <a:solidFill>
                          <a:srgbClr val="60A5FA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72A46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池</a:t>
                      </a:r>
                      <a:endParaRPr sz="1000" b="1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dex.trades + V4 Swap/Init；RPC 校验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已验证 Uni V1–V4 / Curve / Balancer 池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池表、储备饼图、集中度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成交</a:t>
                      </a:r>
                      <a:endParaRPr sz="1000" b="1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Swap 事件只拉一次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本地分桶 → 价格、分池成交量（不再重查 dex.trades）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价格图、成交量图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持仓</a:t>
                      </a:r>
                      <a:endParaRPr sz="1000" b="1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Dune balances；失败则 RPC balanceOf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start / end / peak / 净变动 + 覆盖率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KPI、Holders、Movers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LP</a:t>
                      </a:r>
                      <a:endParaRPr sz="1000" b="1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Mint/Burn、V4 ModifyLiquidity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仓位；Gross/Net；金额三态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LP 下钻、Flow、撤资表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储备</a:t>
                      </a:r>
                      <a:endParaRPr sz="1000" b="1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历史 RPC balanceOf 或事件重建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snapshot 或 reconstructed 时间线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F1F5F9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储备图及点击下钻</a:t>
                      </a:r>
                      <a:endParaRPr sz="1000" b="0">
                        <a:solidFill>
                          <a:srgbClr val="F1F5F9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9509760" y="6656832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</a:rPr>
              <a:t>12  /  14</a:t>
            </a:r>
            <a:endParaRPr sz="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WPS Presentation</Application>
  <PresentationFormat>On-screen Show (4:3)</PresentationFormat>
  <Paragraphs>234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Arial</vt:lpstr>
      <vt:lpstr>PingFang SC</vt:lpstr>
      <vt:lpstr>Calibri</vt:lpstr>
      <vt:lpstr>Helvetica Neue</vt:lpstr>
      <vt:lpstr>Microsoft YaHei</vt:lpstr>
      <vt:lpstr>汉仪旗黑</vt:lpstr>
      <vt:lpstr>Arial Unicode MS</vt:lpstr>
      <vt:lpstr>汉仪书宋二KW</vt:lpstr>
      <vt:lpstr>SimSun</vt:lpstr>
      <vt:lpstr>-apple-system</vt:lpstr>
      <vt:lpstr>Menlo</vt:lpstr>
      <vt:lpstr>Thonburi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apple</cp:lastModifiedBy>
  <cp:revision>7</cp:revision>
  <dcterms:created xsi:type="dcterms:W3CDTF">2026-09-03T12:23:06Z</dcterms:created>
  <dcterms:modified xsi:type="dcterms:W3CDTF">2026-09-03T12:23:06Z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1033-12.1.25869.25869</vt:lpwstr>
  </property>
  <property fmtid="{D5CDD505-2E9C-101B-9397-08002B2CF9AE}" pid="3" name="ICV">
    <vt:lpwstr>3EFF8AA614FEFBB6063F996AE452D3D8_42</vt:lpwstr>
  </property>
</Properties>
</file>